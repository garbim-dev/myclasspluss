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2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Sunday, August 18,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136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Sunday, August 18,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338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Sunday, August 18,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97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Sunday, August 18,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44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Sunday, August 18, 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5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Sunday, August 18, 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31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Sunday, August 18,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98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Sunday, August 18,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9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Sunday, August 18,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701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Sunday, August 18,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893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Sunday, August 18,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55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Sunday, August 18,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0298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8C448D53-ACA1-4CA4-B08A-09FB0780C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CF56C0-B759-5597-D84D-20841A634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823808"/>
            <a:ext cx="11437253" cy="855858"/>
          </a:xfrm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8129" y="4508172"/>
            <a:ext cx="7380000" cy="1791028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Somente os funcionários treinados, autorizados e licenciados devem operar equipamentos de manuseio de materiais.</a:t>
            </a:r>
          </a:p>
        </p:txBody>
      </p:sp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5AD2A98B-6EC2-8CF6-80BC-291167582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25" y="2006613"/>
            <a:ext cx="4209304" cy="42093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17" name="Straight Connector 11">
            <a:extLst>
              <a:ext uri="{FF2B5EF4-FFF2-40B4-BE49-F238E27FC236}">
                <a16:creationId xmlns:a16="http://schemas.microsoft.com/office/drawing/2014/main" id="{3B5719CE-F76F-4313-9A48-ADF79E67B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85412" y="4122000"/>
            <a:ext cx="738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5221929" y="2623617"/>
            <a:ext cx="5706966" cy="1007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1.- APENAS OPERADORES QUALIFICADOS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91E1FE7-6096-6A42-2D26-B1FD9D83C9DB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7" name="Imagem 6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DD0E9964-9756-879E-D0BE-F99B0B8995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49FE654D-D8EA-C875-7FD6-5CD9BED45B7D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9" name="Imagem 8" descr="Logotipo, nome da empresa&#10;&#10;Descrição gerada automaticamente">
            <a:extLst>
              <a:ext uri="{FF2B5EF4-FFF2-40B4-BE49-F238E27FC236}">
                <a16:creationId xmlns:a16="http://schemas.microsoft.com/office/drawing/2014/main" id="{8EE8BCEA-6F61-FFDC-5C48-9B62BF5D5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5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1071" y="3548920"/>
            <a:ext cx="7380000" cy="3095745"/>
          </a:xfrm>
        </p:spPr>
        <p:txBody>
          <a:bodyPr>
            <a:normAutofit fontScale="92500" lnSpcReduction="20000"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Os operadores devem estar adequadamente vestidos – o equipamento de segurança correto, incluindo jaqueta de alta visibilidade, sapatos de segurança e capacetes rígidos (onde apropriado) deve sempre ser usado.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Lembre-se de que roupas soltas podem ficar presas na empilhadeira ou interferir com os controles.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5622598" y="2188905"/>
            <a:ext cx="5706966" cy="533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2.- USE ROUPAS ADEQUADAS</a:t>
            </a:r>
          </a:p>
        </p:txBody>
      </p:sp>
      <p:pic>
        <p:nvPicPr>
          <p:cNvPr id="7" name="Imagem 6" descr="Capacete azul no chão&#10;&#10;Descrição gerada automaticamente com confiança baixa">
            <a:extLst>
              <a:ext uri="{FF2B5EF4-FFF2-40B4-BE49-F238E27FC236}">
                <a16:creationId xmlns:a16="http://schemas.microsoft.com/office/drawing/2014/main" id="{128AD4D0-9739-7F00-4F7A-BA0422377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25567">
            <a:off x="-48551" y="2541616"/>
            <a:ext cx="4463257" cy="29755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37CA08E7-35DD-7E8A-3939-AAFD0DA99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823808"/>
            <a:ext cx="11437253" cy="855858"/>
          </a:xfrm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2EA10F3C-E765-19FE-3C70-210C32C432C8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10" name="Imagem 9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9D1AC47C-F109-923A-4655-6B5C25F0C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848D9620-5FE0-3C01-55D9-CA4D05F49949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12" name="Imagem 11" descr="Logotipo, nome da empresa&#10;&#10;Descrição gerada automaticamente">
            <a:extLst>
              <a:ext uri="{FF2B5EF4-FFF2-40B4-BE49-F238E27FC236}">
                <a16:creationId xmlns:a16="http://schemas.microsoft.com/office/drawing/2014/main" id="{7E46E473-6159-0F0E-51BB-1A56A177A2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27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71" y="2443400"/>
            <a:ext cx="12061150" cy="3976416"/>
          </a:xfrm>
        </p:spPr>
        <p:txBody>
          <a:bodyPr>
            <a:normAutofit fontScale="92500" lnSpcReduction="10000"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Os equipamentos de manuseio de materiais devem sempre ser cuidadosamente inspecionados e as verificações diárias devem ser feitas antes de iniciar o trabalho com o supervisor de turno sendo informado se algum problema for identificado.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As instruções de operação do equipamento no manual do operador devem sempre ser seguidas.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Os equipamentos que requerem reparo nunca devem ser operados e os reparos e a manutenção devem ser realizados apenas por técnicos qualificados, por exemplo, o engenheiro de serviço do fornecedor.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804526" y="1745829"/>
            <a:ext cx="10435486" cy="533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3.- INSPEÇÃO DOS EQUIPAMENTOS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DF2DCC8-931A-127D-6D3E-D00D6FC76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823808"/>
            <a:ext cx="11437253" cy="855858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F4E7ED7-9308-615F-2914-2DC779D043D7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9" name="Imagem 8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B10DEA13-C5AB-D445-E57B-4C134C4E1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283B9511-8621-C18C-37F7-E9C8BE61AEB7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11" name="Imagem 10" descr="Logotipo, nome da empresa&#10;&#10;Descrição gerada automaticamente">
            <a:extLst>
              <a:ext uri="{FF2B5EF4-FFF2-40B4-BE49-F238E27FC236}">
                <a16:creationId xmlns:a16="http://schemas.microsoft.com/office/drawing/2014/main" id="{9676DBED-3806-ECAD-EA5B-0BAB9F71A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534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71" y="2278510"/>
            <a:ext cx="12061150" cy="4699410"/>
          </a:xfrm>
        </p:spPr>
        <p:txBody>
          <a:bodyPr>
            <a:normAutofit fontScale="85000" lnSpcReduction="20000"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Nunca opere equipamentos de manuseio de materiais com mãos ou sapatos molhados ou oleosos, pois eles podem deslizar para fora dos controles e causar um acidente.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Sempre use os degraus e os corrimões fornecidos para entrar e sair do equipamento.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Antes de começar o trabalho, certifique-se de que uma posição operacional confortável seja encontrada e todos os controles estejam ao seu alcance. O apoio de braço, a posição do assento e os espelhos devem ser ajustados corretamente e o cinto de segurança deve ser sempre apertado.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Nunca opere uma empilhadeira, a menos que esteja no assento do operador e mantenha os braços, as pernas e a cabeça dentro dos limites do equipamento em todos os momentos.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804526" y="1461019"/>
            <a:ext cx="10435486" cy="533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4.- INICIO DO TRABALHO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9F223AA-F4E2-8F68-2D22-4EBDB3052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823808"/>
            <a:ext cx="11437253" cy="855858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84CC7C2-B7B3-6AA3-DC5F-2BE4692A127B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9" name="Imagem 8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4BD67A58-1D51-8242-51D2-B29A1B6DE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B12F2BB9-53CB-3237-E4B5-AE0363CFEF49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11" name="Imagem 10" descr="Logotipo, nome da empresa&#10;&#10;Descrição gerada automaticamente">
            <a:extLst>
              <a:ext uri="{FF2B5EF4-FFF2-40B4-BE49-F238E27FC236}">
                <a16:creationId xmlns:a16="http://schemas.microsoft.com/office/drawing/2014/main" id="{8A35D168-C5EF-22A0-FB60-BC08D7F6DD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79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71" y="2638271"/>
            <a:ext cx="12061150" cy="4699410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Siga todas as regras, regulamentos e restrições do local de trabalho e opere apenas equipamentos em estradas designadas e áreas especificadas.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Observe todos os sinais de alerta.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Sempre olhe na direção do percurso e esteja totalmente ciente do que está acontecendo nas áreas circundantes.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804526" y="1730842"/>
            <a:ext cx="10435486" cy="533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5.- AMBIENTE OPERACIONAL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1A0DD57-9805-706F-BBD9-133F76442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823808"/>
            <a:ext cx="11437253" cy="855858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65E0444-75C0-369F-D3B1-99EFAAA4AA25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9" name="Imagem 8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EA21A44C-1CBC-7290-5E17-E76717206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6BEF9FCB-5024-F651-12D1-3523A98A0B8A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11" name="Imagem 10" descr="Logotipo, nome da empresa&#10;&#10;Descrição gerada automaticamente">
            <a:extLst>
              <a:ext uri="{FF2B5EF4-FFF2-40B4-BE49-F238E27FC236}">
                <a16:creationId xmlns:a16="http://schemas.microsoft.com/office/drawing/2014/main" id="{554285CF-2004-3E00-7B7E-D88D8BA9FF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245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71" y="2578311"/>
            <a:ext cx="12061150" cy="4699410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Sempre opere o equipamento dentro dos limites de velocidade designados.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Desloque-se lentamente ao virar os cantos ou fazer curvas abertas, pois a velocidade alta em uma curva fechada pode resultar em tombamento.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Não pare, comece, vire ou mude de direção de repente.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804526" y="1730842"/>
            <a:ext cx="10435486" cy="533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6.- VELOCIDADE DE PERCURSO ADEQUADA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0EE5C28-A671-8D00-2420-F89FFB377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823808"/>
            <a:ext cx="11437253" cy="855858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D0DB9C4-26D7-DA4F-1297-EF90AEC47C54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9" name="Imagem 8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0E40AAA7-B5B0-FFB6-C45F-615949C5F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1A6AB400-1066-72EA-6001-EFC61DE4D1C4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11" name="Imagem 10" descr="Logotipo, nome da empresa&#10;&#10;Descrição gerada automaticamente">
            <a:extLst>
              <a:ext uri="{FF2B5EF4-FFF2-40B4-BE49-F238E27FC236}">
                <a16:creationId xmlns:a16="http://schemas.microsoft.com/office/drawing/2014/main" id="{9A6E5713-38E6-F708-605D-01162A50AC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76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71" y="2578311"/>
            <a:ext cx="12061150" cy="4699410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Evite solavancos, furos, materiais soltos e tenha cuidado extra quando o chão estiver escorregadio.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Não dirija sobre objetos como pedaços de madeira espalhados no chão, pois isso pode fazer com que a carga se mova ou o controle do equipamento possa ser perdido.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Reduza a velocidade do equipamento e use a buzina quando estiver nas proximidades de cantos, saídas, entradas, escadas, portas, passarelas para pedestres e nas proximidades de outros funcionários.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804526" y="1730842"/>
            <a:ext cx="10435486" cy="533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7.- EVITA O PERIGO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C7016BB-1995-FD25-2A39-B9450110F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823808"/>
            <a:ext cx="11437253" cy="855858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7578818-CAA4-88A4-6D33-96893210A037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9" name="Imagem 8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7B62AF2B-120D-4911-C0E6-869D8C0CA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C7215896-4D44-13EF-136C-477C9FCA5687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11" name="Imagem 10" descr="Logotipo, nome da empresa&#10;&#10;Descrição gerada automaticamente">
            <a:extLst>
              <a:ext uri="{FF2B5EF4-FFF2-40B4-BE49-F238E27FC236}">
                <a16:creationId xmlns:a16="http://schemas.microsoft.com/office/drawing/2014/main" id="{DA174FC8-E634-38CF-8BCA-54784C354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694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695" y="2668251"/>
            <a:ext cx="11062741" cy="4699410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A menos que seja absolutamente necessário, não opere equipamentos próximos a outros equipamentos que estejam sendo usados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Mantenha uma distância segura de outros equipamentos caso eles se movam de maneira imprevisível.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Sempre tenha espaço suficiente para parar com segurança.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804526" y="1730842"/>
            <a:ext cx="10435486" cy="533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8.- DISTÂNCIA DE OPERAÇÃO SEGURA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8A80223-2FAA-CF1F-FA79-1A8A92B0E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823808"/>
            <a:ext cx="11437253" cy="855858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B414964-AF46-2D06-76F7-DED1B6289AC6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9" name="Imagem 8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FB9339D5-DD59-7A21-DEDA-DA892A238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B51C689F-5249-FD3B-6821-105C87A13E4A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11" name="Imagem 10" descr="Logotipo, nome da empresa&#10;&#10;Descrição gerada automaticamente">
            <a:extLst>
              <a:ext uri="{FF2B5EF4-FFF2-40B4-BE49-F238E27FC236}">
                <a16:creationId xmlns:a16="http://schemas.microsoft.com/office/drawing/2014/main" id="{A2CCE5B4-33CF-A8D1-969E-A3D804A1E9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103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25" y="2243846"/>
            <a:ext cx="12061150" cy="4699410"/>
          </a:xfrm>
        </p:spPr>
        <p:txBody>
          <a:bodyPr>
            <a:normAutofit fontScale="92500"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Manuseie as cargas com cuidado e verifique-as cuidadosamente quanto à estabilidade e equilíbrio antes de levantar, abaixar ou se mover. A queda de cargas pode causar ferimentos e danos.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Desloque-se com a carga inclinada para trás e os garfos o mais baixo possível, pois isso aumentará a estabilidade do equipamento a ser operado.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Nunca viaje com os garfos levantados acima do chão ou gire com os garfos em uma posição elevada ou inclinados para frente.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Fique atento a obstruções aéreas ao levantar, baixar ou empilhar cargas.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Esteja atento à possibilidade de queda de cargas ao empilhar.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804526" y="1565952"/>
            <a:ext cx="10435486" cy="533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9.- ESTABILIDADE DA CARGA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EDF24D7-20B3-4D73-E8ED-72B941ED8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823808"/>
            <a:ext cx="11437253" cy="855858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AE972FC-BC6F-3982-FCBE-A78457930349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9" name="Imagem 8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710539A8-16C0-D785-219B-C74EC73C4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546C8EB4-B507-1863-DDF0-BC726B5D8922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11" name="Imagem 10" descr="Logotipo, nome da empresa&#10;&#10;Descrição gerada automaticamente">
            <a:extLst>
              <a:ext uri="{FF2B5EF4-FFF2-40B4-BE49-F238E27FC236}">
                <a16:creationId xmlns:a16="http://schemas.microsoft.com/office/drawing/2014/main" id="{59D26E85-0351-2169-7BCA-28511D9E5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67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71" y="2158591"/>
            <a:ext cx="12061150" cy="4699410"/>
          </a:xfrm>
        </p:spPr>
        <p:txBody>
          <a:bodyPr>
            <a:normAutofit fontScale="92500" lnSpcReduction="20000"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O transporte de uma carga perto do chão proporciona boa visibilidade para a frente.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Opere o equipamento em marcha à ré quando a carga restringir a visibilidade, exceto ao subir rampas.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Certifique-se de que haja uma boa visão do rack ou da parte superior de uma pilha ao posicionar uma carga.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Ao inverter, certifique-se de que os garfos estejam completamente inclinados para trás e confirme se a carga está segura antes de se afastar.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Se a visibilidade permanecer obstruída, pare sempre e confirme que é seguro prosseguir. Nestas circunstâncias, pode ser necessário um vigia ou ajudante.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804526" y="1431966"/>
            <a:ext cx="10435486" cy="533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10.- MANUTENÇÃO DE VISIBILIDADE TOTAL E CLARA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BBEB22E5-3E9A-5C43-3FEF-4B7A534AA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613948"/>
            <a:ext cx="11437253" cy="855858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7F40C83-AD70-FDC2-3F53-A7D275A76A70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9" name="Imagem 8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FA17D264-EBA9-B6D8-A350-3B7AEDC81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DFB1F068-A938-6B1A-3155-53CB7200D974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11" name="Imagem 10" descr="Logotipo, nome da empresa&#10;&#10;Descrição gerada automaticamente">
            <a:extLst>
              <a:ext uri="{FF2B5EF4-FFF2-40B4-BE49-F238E27FC236}">
                <a16:creationId xmlns:a16="http://schemas.microsoft.com/office/drawing/2014/main" id="{22F45851-75BF-F08A-AACA-FE5C98175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86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71" y="2653261"/>
            <a:ext cx="12061150" cy="4699410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Não permita que outras pessoas montem no equipamento a menos que um segundo assento esteja instalado. Empilhadeiras, por exemplo, são projetadas para transportar cargas, não pessoas.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Não use empilhadeiras para levantar pessoas. Se uma pessoa tiver que ser levantada, use apenas uma plataforma de trabalho e uma gaiola firmemente fixadas e siga as instruções de operação apropriadas.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804526" y="1731770"/>
            <a:ext cx="10435486" cy="533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11.- USO CORRETO DO EQUIPAMENTO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3D6D220-8591-6689-7AD3-1407F8ECF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823808"/>
            <a:ext cx="11437253" cy="855858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571CB70-542E-7E40-C15A-217F6203444F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9" name="Imagem 8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83BC8540-2792-5707-D05A-D11B2FA8A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AF1C8C0F-25FD-46F9-8F5E-B3EE659CEB70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11" name="Imagem 10" descr="Logotipo, nome da empresa&#10;&#10;Descrição gerada automaticamente">
            <a:extLst>
              <a:ext uri="{FF2B5EF4-FFF2-40B4-BE49-F238E27FC236}">
                <a16:creationId xmlns:a16="http://schemas.microsoft.com/office/drawing/2014/main" id="{E11C6746-1CAD-E6D5-C335-0D86B57D9C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11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536" y="2158590"/>
            <a:ext cx="10715356" cy="4699410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Não permita que ninguém fique em pé ou ande sob uma carga, mecanismo de elevação ou acessório, pois a carga pode cair e causar ferimentos graves a qualquer pessoa em pé abaixo.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Nunca coloque as mãos ou os pés no travessão central de um mastro de empilhadeira, pois lesões graves serão causadas se o mastro for baixado enquanto suas mãos ou pés estiverem nele.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804526" y="1357016"/>
            <a:ext cx="10435486" cy="533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12.- ÁREA RESTRITA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F5B1082-71FB-F5A1-3924-296543FFC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823808"/>
            <a:ext cx="11437253" cy="855858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CB1E20A-4823-9029-25CF-93D65B94CD75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9" name="Imagem 8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83DB70F9-4C91-B4FD-F6AA-5E1BCE9CD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5080EAFA-04DD-01CA-677A-9E42BDBB49BC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11" name="Imagem 10" descr="Logotipo, nome da empresa&#10;&#10;Descrição gerada automaticamente">
            <a:extLst>
              <a:ext uri="{FF2B5EF4-FFF2-40B4-BE49-F238E27FC236}">
                <a16:creationId xmlns:a16="http://schemas.microsoft.com/office/drawing/2014/main" id="{29897FF4-301F-AE19-45EF-24EDB134AE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71" y="2707612"/>
            <a:ext cx="5917397" cy="4699410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chemeClr val="accent3">
                    <a:lumMod val="60000"/>
                    <a:lumOff val="40000"/>
                    <a:alpha val="5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Lembre-se de subir gradientes em uma direção para frente e para baixo em marcha à ré, especialmente durante o transporte de cargas.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chemeClr val="accent3">
                    <a:lumMod val="60000"/>
                    <a:lumOff val="40000"/>
                    <a:alpha val="5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Não carregue ou descarregue mercadorias ou gire enquanto estiver em uma rampa.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804526" y="1357016"/>
            <a:ext cx="10435486" cy="533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13.- DIREÇÃO EM RAMPAS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067F8DC-13EE-0698-A8AC-813CA490B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854" y="2323475"/>
            <a:ext cx="5523141" cy="41370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F2C8AAE-7AFA-F5C3-4B82-C2F73C711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823808"/>
            <a:ext cx="11437253" cy="855858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BCA5A66-8464-21FB-03F0-494B69269640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10" name="Imagem 9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3A818717-A632-DA9E-46AF-A2407935E3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45622178-C9F2-5CDE-F8FC-5FD77B1E6DD0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12" name="Imagem 11" descr="Logotipo, nome da empresa&#10;&#10;Descrição gerada automaticamente">
            <a:extLst>
              <a:ext uri="{FF2B5EF4-FFF2-40B4-BE49-F238E27FC236}">
                <a16:creationId xmlns:a16="http://schemas.microsoft.com/office/drawing/2014/main" id="{093983BD-E6AD-7194-3C8B-E7E0AD9D0F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110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71" y="2083641"/>
            <a:ext cx="12061150" cy="4699410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Não levante ou mova cargas que não sejam seguras ou estáveis.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Verifique se as cargas estão corretamente empilhadas e posicionadas em ambos os garfos.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Empilhe a carga no palete ou trilho de forma segura e correta.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Use cordas ou amarras para fixar cargas, se necessário.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Ao mover cargas longas, altas ou largas, opere o equipamento com maior cuidado.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Fique atento a outras pessoas ou obstruções no seu percurso.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804526" y="1357016"/>
            <a:ext cx="10435486" cy="533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14.- VERIFIQUE SE AS CARGAS ESTÃO SEGURAS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685C31C-8AF0-6EBF-476A-1568BEE66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823808"/>
            <a:ext cx="11437253" cy="855858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E9CBB31-8B2D-DCC8-9AD3-227EA1CC6200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9" name="Imagem 8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7134CC58-228A-0C6D-ABD3-23940093D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9AB2E4D0-3CD0-4497-E7B4-C31D6762E102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11" name="Imagem 10" descr="Logotipo, nome da empresa&#10;&#10;Descrição gerada automaticamente">
            <a:extLst>
              <a:ext uri="{FF2B5EF4-FFF2-40B4-BE49-F238E27FC236}">
                <a16:creationId xmlns:a16="http://schemas.microsoft.com/office/drawing/2014/main" id="{29D840F3-7584-9CAA-8686-8A4DF8FE3C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41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71" y="1859077"/>
            <a:ext cx="12061150" cy="4923974"/>
          </a:xfrm>
        </p:spPr>
        <p:txBody>
          <a:bodyPr>
            <a:normAutofit fontScale="92500" lnSpcReduction="10000"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Não use as pontas de garfo como alavanca para levantar uma carga pesada.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Não empurre uma carga com as pontas do garfo ou use o cilindro de inclinação para puxar uma carga.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Não sobrecarregue o equipamento ou adicione peso extra ao contrapeso de uma empilhadeira.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Conheça e nunca exceda a capacidade do equipamento e quaisquer acessórios sendo usados. A sobrecarga do equipamento pode fazer com que as rodas traseiras sejam levantadas do chão e pode fazer com que o equipamento caia causando ferimentos ao pessoal ou danos ao equipamento ou mercadorias.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55899" y="1312046"/>
            <a:ext cx="12061150" cy="50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6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15.- GARANTA QUE A CAPACIDADE DO EQUIPAMENTO NÃO SEJA EXCEDIDA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C479786-F668-373D-568B-1CF034B9F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683060"/>
            <a:ext cx="11437253" cy="636844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10C7642-AFC3-7C94-41FF-753A7F5F219E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9" name="Imagem 8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8136ECE0-B927-30CA-9E58-0AF8DE673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20E47D5E-72C1-1CC5-7BEA-B96F541648D1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11" name="Imagem 10" descr="Logotipo, nome da empresa&#10;&#10;Descrição gerada automaticamente">
            <a:extLst>
              <a:ext uri="{FF2B5EF4-FFF2-40B4-BE49-F238E27FC236}">
                <a16:creationId xmlns:a16="http://schemas.microsoft.com/office/drawing/2014/main" id="{76B092E7-8733-FAD9-E2A4-57D990EB6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59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71" y="2083641"/>
            <a:ext cx="6355829" cy="4699410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Não levante ou mova uma carga, a menos que ambos os garfos estejam totalmente posicionados sob a carga.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Não levante uma carga com um garfo.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Use paletes e trilhos apropriados para o peso da carga.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Não use paletes ou trilhos danificados ou deteriorados.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804526" y="1357016"/>
            <a:ext cx="10435486" cy="533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16.- CARGAS DISTRIBUIDAS UNIFORMEMENTE</a:t>
            </a:r>
          </a:p>
        </p:txBody>
      </p:sp>
      <p:pic>
        <p:nvPicPr>
          <p:cNvPr id="5" name="Imagem 4" descr="Caminhão cheio de objetos&#10;&#10;Descrição gerada automaticamente com confiança baixa">
            <a:extLst>
              <a:ext uri="{FF2B5EF4-FFF2-40B4-BE49-F238E27FC236}">
                <a16:creationId xmlns:a16="http://schemas.microsoft.com/office/drawing/2014/main" id="{A7F67EF7-B249-0AA4-6F71-53E91D577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740" y="2493994"/>
            <a:ext cx="5569992" cy="36988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34391D64-9E6B-21FD-DADD-8522635A09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794780"/>
            <a:ext cx="11437253" cy="600075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22C62213-9C70-DEB1-FBBD-995D46D2B521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10" name="Imagem 9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2EE10F98-C8BC-424A-7ADE-3833329BD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BFD8A79A-E4D2-4EB0-3633-38A7D3DEB095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12" name="Imagem 11" descr="Logotipo, nome da empresa&#10;&#10;Descrição gerada automaticamente">
            <a:extLst>
              <a:ext uri="{FF2B5EF4-FFF2-40B4-BE49-F238E27FC236}">
                <a16:creationId xmlns:a16="http://schemas.microsoft.com/office/drawing/2014/main" id="{D0125026-6533-BD11-CC7E-319A440917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1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6517" y="2008690"/>
            <a:ext cx="6700603" cy="4699410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Tenha cuidado extra e verifique se as cargas redondas, altas, longas ou largas estão equilibradas e bem protegidas.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Gire e trabalhe lentamente para evitar que a carga se mova.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Peça ajuda a alguém quando o espaço de manobra estiver restrito e certifique-se de seguir os sinais dados por um ajudante.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804526" y="1357016"/>
            <a:ext cx="10435486" cy="533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17.- CARGAS ESPECIAIS</a:t>
            </a:r>
          </a:p>
        </p:txBody>
      </p:sp>
      <p:pic>
        <p:nvPicPr>
          <p:cNvPr id="5" name="Imagem 4" descr="Uma imagem contendo mesa, quarto, laranja, vivendo&#10;&#10;Descrição gerada automaticamente">
            <a:extLst>
              <a:ext uri="{FF2B5EF4-FFF2-40B4-BE49-F238E27FC236}">
                <a16:creationId xmlns:a16="http://schemas.microsoft.com/office/drawing/2014/main" id="{FB805350-96CC-4252-4AB9-71C147D05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60037">
            <a:off x="360000" y="2979106"/>
            <a:ext cx="4811473" cy="27585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B78B1A7B-1340-2B2E-3160-BA6563445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786295"/>
            <a:ext cx="11437253" cy="533609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731AC959-72F6-B870-59EB-8C595AFFB36C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10" name="Imagem 9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AFE440E6-E6A3-D7D3-7C32-16F07CB2D4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2FAC178A-1814-1087-0AFA-3FA371375EF6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12" name="Imagem 11" descr="Logotipo, nome da empresa&#10;&#10;Descrição gerada automaticamente">
            <a:extLst>
              <a:ext uri="{FF2B5EF4-FFF2-40B4-BE49-F238E27FC236}">
                <a16:creationId xmlns:a16="http://schemas.microsoft.com/office/drawing/2014/main" id="{5F26D935-51F7-3B9F-771C-6E5D3292FA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9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71" y="2083641"/>
            <a:ext cx="12061150" cy="4699410"/>
          </a:xfrm>
        </p:spPr>
        <p:txBody>
          <a:bodyPr>
            <a:normAutofit fontScale="92500" lnSpcReduction="20000"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Observe todos os sinais de aviso, particularmente aqueles em cargas máximas permitidas no chão e alturas de folga, que podem diferir entre o local de trabalho.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Observe a altura da carga, do mastro e da proteção aérea dos equipamentos, particularmente das empilhadeiras, ao entrar ou sair dos edifícios.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Tenha cuidado ao operar o equipamento em uma plataforma de carregamento ou rampa, mantendo uma distância segura da borda, pois o equipamento pode cair e causar ferimentos ou perda da carga.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Não opere o equipamento em placas de ponte, a menos que elas suportem o peso do equipamento e a carga.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804526" y="1357016"/>
            <a:ext cx="10435486" cy="533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18.- OBSERVE MUDANÇAS NO AMBIENTE OPERACIONAL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AC992DF-64E7-3676-D257-34866B52D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778838"/>
            <a:ext cx="11437253" cy="533208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9157D17-1318-1E19-EE70-107F89354618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9" name="Imagem 8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BEDD0CF0-36A8-035F-277E-621BFAD4B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C45AC0E5-EA31-90F1-3CEB-62538B7D527F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11" name="Imagem 10" descr="Logotipo, nome da empresa&#10;&#10;Descrição gerada automaticamente">
            <a:extLst>
              <a:ext uri="{FF2B5EF4-FFF2-40B4-BE49-F238E27FC236}">
                <a16:creationId xmlns:a16="http://schemas.microsoft.com/office/drawing/2014/main" id="{3955C367-7612-2F6B-DA42-E7F78D5D4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5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72" y="2083641"/>
            <a:ext cx="6460760" cy="4699410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O equipamento só deve ser recarregado ou reabastecido em locais especialmente designados.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Sempre desligue o equipamento ao ser recarregado ou reabastecido.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O reabastecimento de empilhadeiras movidas a motor deve ocorrer em uma área bem ventilada, livre de faíscas e chamas.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804526" y="1357016"/>
            <a:ext cx="10435486" cy="533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10.- ABASTECIMENTO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FD26F93-EC49-4214-1C22-098CB152A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515" y="2368444"/>
            <a:ext cx="5734752" cy="37400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49890D01-EEAC-F7B7-3E75-214C68A7C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698827"/>
            <a:ext cx="11437253" cy="636066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E5E4B23B-CEDF-B0E9-3D90-001B5995F862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10" name="Imagem 9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D53C6F86-8926-42DC-4D8E-34DFD515C7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39B4FC76-B966-1C7D-FD05-DB96F39D5BEC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12" name="Imagem 11" descr="Logotipo, nome da empresa&#10;&#10;Descrição gerada automaticamente">
            <a:extLst>
              <a:ext uri="{FF2B5EF4-FFF2-40B4-BE49-F238E27FC236}">
                <a16:creationId xmlns:a16="http://schemas.microsoft.com/office/drawing/2014/main" id="{8444E4F7-C855-0F75-0419-56C0DDDA22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97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C5DEB-2571-BDFB-0AA5-8889A63A1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841" y="2053661"/>
            <a:ext cx="4557009" cy="4699410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Sempre estacione o equipamento na área designada ou autorizada.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Abaixe totalmente os garfos até o chão e aplique o freio de estacionamento.</a:t>
            </a:r>
          </a:p>
          <a:p>
            <a:pPr algn="ctr">
              <a:lnSpc>
                <a:spcPct val="110000"/>
              </a:lnSpc>
            </a:pPr>
            <a:r>
              <a:rPr lang="pt-BR" sz="2800" b="1" dirty="0">
                <a:solidFill>
                  <a:srgbClr val="002060">
                    <a:alpha val="5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Desligue o equipamento e remova a chave.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8BEB47-4C54-BA12-1207-244747D171C1}"/>
              </a:ext>
            </a:extLst>
          </p:cNvPr>
          <p:cNvSpPr txBox="1"/>
          <p:nvPr/>
        </p:nvSpPr>
        <p:spPr>
          <a:xfrm>
            <a:off x="804526" y="1357016"/>
            <a:ext cx="10435486" cy="533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28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20.- FIM DE TURNO</a:t>
            </a:r>
          </a:p>
        </p:txBody>
      </p:sp>
      <p:pic>
        <p:nvPicPr>
          <p:cNvPr id="5" name="Imagem 4" descr="Caminhão de brinquedo&#10;&#10;Descrição gerada automaticamente com confiança média">
            <a:extLst>
              <a:ext uri="{FF2B5EF4-FFF2-40B4-BE49-F238E27FC236}">
                <a16:creationId xmlns:a16="http://schemas.microsoft.com/office/drawing/2014/main" id="{7D5A564A-68F5-ADD0-F50E-5290DC7E2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057" y="2293495"/>
            <a:ext cx="6995408" cy="39349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9533900A-9EC1-CB87-8F52-3E4BE92A5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04" y="823808"/>
            <a:ext cx="11437253" cy="496964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algn="ctr"/>
            <a:r>
              <a:rPr lang="pt-BR" sz="2800" b="1" i="0" u="sng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DICAS PARA OPERAÇÃO SEGURA DE EMPILHADEIRAS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0E5C447-4C64-A786-C8FB-4BE12DE8EBE0}"/>
              </a:ext>
            </a:extLst>
          </p:cNvPr>
          <p:cNvSpPr txBox="1">
            <a:spLocks/>
          </p:cNvSpPr>
          <p:nvPr/>
        </p:nvSpPr>
        <p:spPr>
          <a:xfrm>
            <a:off x="1660143" y="187860"/>
            <a:ext cx="5611892" cy="5865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OPERAÇÃO DE EMPILHADEIRA</a:t>
            </a:r>
          </a:p>
        </p:txBody>
      </p:sp>
      <p:pic>
        <p:nvPicPr>
          <p:cNvPr id="10" name="Imagem 9" descr="Desenho preto e branco&#10;&#10;Descrição gerada automaticamente com confiança média">
            <a:extLst>
              <a:ext uri="{FF2B5EF4-FFF2-40B4-BE49-F238E27FC236}">
                <a16:creationId xmlns:a16="http://schemas.microsoft.com/office/drawing/2014/main" id="{BC785310-19B0-FA7E-A84D-45D9C4ACE2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981" y="62043"/>
            <a:ext cx="1356500" cy="855858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D4A53762-DAC8-83F8-0BE0-7CCAFB02E0F9}"/>
              </a:ext>
            </a:extLst>
          </p:cNvPr>
          <p:cNvSpPr/>
          <p:nvPr/>
        </p:nvSpPr>
        <p:spPr>
          <a:xfrm>
            <a:off x="89943" y="1043600"/>
            <a:ext cx="74950" cy="55707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12" name="Imagem 11" descr="Logotipo, nome da empresa&#10;&#10;Descrição gerada automaticamente">
            <a:extLst>
              <a:ext uri="{FF2B5EF4-FFF2-40B4-BE49-F238E27FC236}">
                <a16:creationId xmlns:a16="http://schemas.microsoft.com/office/drawing/2014/main" id="{AAE995D0-A0E9-1248-416A-910703C9D1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32" y="80751"/>
            <a:ext cx="16287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9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agona Book"/>
        <a:ea typeface=""/>
        <a:cs typeface=""/>
      </a:majorFont>
      <a:minorFont>
        <a:latin typeface="Univer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1697</Words>
  <Application>Microsoft Office PowerPoint</Application>
  <PresentationFormat>Widescreen</PresentationFormat>
  <Paragraphs>125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ADLaM Display</vt:lpstr>
      <vt:lpstr>Arial</vt:lpstr>
      <vt:lpstr>Calibri Light</vt:lpstr>
      <vt:lpstr>Sagona Book</vt:lpstr>
      <vt:lpstr>Univers</vt:lpstr>
      <vt:lpstr>ThinLineVTI</vt:lpstr>
      <vt:lpstr>DICAS PARA OPERAÇÃO SEGURA DE EMPILHADEIRAS</vt:lpstr>
      <vt:lpstr>DICAS PARA OPERAÇÃO SEGURA DE EMPILHADEIRAS</vt:lpstr>
      <vt:lpstr>DICAS PARA OPERAÇÃO SEGURA DE EMPILHADEIRAS</vt:lpstr>
      <vt:lpstr>DICAS PARA OPERAÇÃO SEGURA DE EMPILHADEIRAS</vt:lpstr>
      <vt:lpstr>DICAS PARA OPERAÇÃO SEGURA DE EMPILHADEIRAS</vt:lpstr>
      <vt:lpstr>DICAS PARA OPERAÇÃO SEGURA DE EMPILHADEIRAS</vt:lpstr>
      <vt:lpstr>DICAS PARA OPERAÇÃO SEGURA DE EMPILHADEIRAS</vt:lpstr>
      <vt:lpstr>DICAS PARA OPERAÇÃO SEGURA DE EMPILHADEIRAS</vt:lpstr>
      <vt:lpstr>DICAS PARA OPERAÇÃO SEGURA DE EMPILHADEIRAS</vt:lpstr>
      <vt:lpstr>DICAS PARA OPERAÇÃO SEGURA DE EMPILHADEIRAS</vt:lpstr>
      <vt:lpstr>DICAS PARA OPERAÇÃO SEGURA DE EMPILHADEIRAS</vt:lpstr>
      <vt:lpstr>DICAS PARA OPERAÇÃO SEGURA DE EMPILHADEIRAS</vt:lpstr>
      <vt:lpstr>DICAS PARA OPERAÇÃO SEGURA DE EMPILHADEIRAS</vt:lpstr>
      <vt:lpstr>DICAS PARA OPERAÇÃO SEGURA DE EMPILHADEIRAS</vt:lpstr>
      <vt:lpstr>DICAS PARA OPERAÇÃO SEGURA DE EMPILHADEIRAS</vt:lpstr>
      <vt:lpstr>DICAS PARA OPERAÇÃO SEGURA DE EMPILHADEIRAS</vt:lpstr>
      <vt:lpstr>DICAS PARA OPERAÇÃO SEGURA DE EMPILHADEIRAS</vt:lpstr>
      <vt:lpstr>DICAS PARA OPERAÇÃO SEGURA DE EMPILHADEIRAS</vt:lpstr>
      <vt:lpstr>DICAS PARA OPERAÇÃO SEGURA DE EMPILHADEIRAS</vt:lpstr>
      <vt:lpstr>DICAS PARA OPERAÇÃO SEGURA DE EMPILHADEIRAS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Sidnei Garbim da Silva</dc:creator>
  <cp:lastModifiedBy>Sidnei Garbim da Silva</cp:lastModifiedBy>
  <cp:revision>3</cp:revision>
  <dcterms:created xsi:type="dcterms:W3CDTF">2024-06-28T02:39:40Z</dcterms:created>
  <dcterms:modified xsi:type="dcterms:W3CDTF">2024-08-19T00:48:17Z</dcterms:modified>
</cp:coreProperties>
</file>